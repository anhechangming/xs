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73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65" r:id="rId20"/>
    <p:sldId id="26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89" d="100"/>
          <a:sy n="89" d="100"/>
        </p:scale>
        <p:origin x="91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580AC-5416-4B5E-9583-86B4A58834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1BE5F-09AA-449E-AF56-D6655B57A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45928" cy="685800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1233578" y="4641011"/>
            <a:ext cx="0" cy="141473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65826" y="6219645"/>
            <a:ext cx="1302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进入登录页面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2570672" y="819509"/>
            <a:ext cx="0" cy="41493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785004" y="819509"/>
            <a:ext cx="17856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818" y="296289"/>
            <a:ext cx="1492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点击密码进入忘记密码忘记页面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929" y="0"/>
            <a:ext cx="4201256" cy="6858000"/>
          </a:xfrm>
          <a:prstGeom prst="rect">
            <a:avLst/>
          </a:prstGeom>
        </p:spPr>
      </p:pic>
      <p:cxnSp>
        <p:nvCxnSpPr>
          <p:cNvPr id="24" name="直接箭头连接符 23"/>
          <p:cNvCxnSpPr/>
          <p:nvPr/>
        </p:nvCxnSpPr>
        <p:spPr>
          <a:xfrm flipH="1">
            <a:off x="4157932" y="6116128"/>
            <a:ext cx="28467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637362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637362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001993" y="6004201"/>
            <a:ext cx="914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回到登录页面</a:t>
            </a:r>
            <a:endParaRPr lang="zh-CN" altLang="en-US" sz="1400" dirty="0"/>
          </a:p>
        </p:txBody>
      </p:sp>
      <p:pic>
        <p:nvPicPr>
          <p:cNvPr id="2" name="图片 1" descr="post_object_image_17242428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204" y="0"/>
            <a:ext cx="3481558" cy="6857988"/>
          </a:xfrm>
          <a:prstGeom prst="rect">
            <a:avLst/>
          </a:prstGeom>
        </p:spPr>
      </p:pic>
      <p:cxnSp>
        <p:nvCxnSpPr>
          <p:cNvPr id="4" name="直接箭头连接符 3"/>
          <p:cNvCxnSpPr/>
          <p:nvPr userDrawn="1"/>
        </p:nvCxnSpPr>
        <p:spPr>
          <a:xfrm>
            <a:off x="7808595" y="5542280"/>
            <a:ext cx="168021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9583077" y="5387977"/>
            <a:ext cx="1809750" cy="30670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1400"/>
              <a:t>注册后选择身份</a:t>
            </a:r>
            <a:endParaRPr lang="zh-CN" altLang="en-US"/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2752725" y="5330825"/>
            <a:ext cx="2402957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3632578" y="4968806"/>
            <a:ext cx="1344295" cy="30670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1400"/>
              <a:t>进入</a:t>
            </a:r>
            <a:r>
              <a:rPr lang="zh-CN" altLang="en-US" sz="1400">
                <a:cs typeface="Arial" panose="020B0604020202020204" pitchFamily="34" charset="0"/>
              </a:rPr>
              <a:t>注册页面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35807269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40401" cy="685800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 userDrawn="1"/>
        </p:nvCxnSpPr>
        <p:spPr>
          <a:xfrm>
            <a:off x="2141220" y="5662295"/>
            <a:ext cx="0" cy="40195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1554484" y="6064261"/>
            <a:ext cx="1574531" cy="5219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1400"/>
              <a:t>返回</a:t>
            </a:r>
            <a:r>
              <a:rPr lang="zh-CN" altLang="en-US" sz="1400">
                <a:cs typeface="Arial" panose="020B0604020202020204" pitchFamily="34" charset="0"/>
              </a:rPr>
              <a:t>登录页面</a:t>
            </a:r>
            <a:endParaRPr lang="zh-CN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ost_object_image_26644328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79368" cy="6407349"/>
          </a:xfrm>
          <a:prstGeom prst="rect">
            <a:avLst/>
          </a:prstGeom>
        </p:spPr>
      </p:pic>
      <p:pic>
        <p:nvPicPr>
          <p:cNvPr id="5" name="图片 4" descr="post_object_image_3826692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368" y="1466568"/>
            <a:ext cx="8485318" cy="4716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ost_object_image_324360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2800"/>
            <a:ext cx="6222831" cy="6203067"/>
          </a:xfrm>
          <a:prstGeom prst="rect">
            <a:avLst/>
          </a:prstGeom>
        </p:spPr>
      </p:pic>
      <p:pic>
        <p:nvPicPr>
          <p:cNvPr id="5" name="图片 4" descr="post_object_image_35013414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751" y="307582"/>
            <a:ext cx="5658527" cy="60182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ost_object_image_10104394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71" y="422681"/>
            <a:ext cx="6018461" cy="6012567"/>
          </a:xfrm>
          <a:prstGeom prst="rect">
            <a:avLst/>
          </a:prstGeom>
        </p:spPr>
      </p:pic>
      <p:pic>
        <p:nvPicPr>
          <p:cNvPr id="5" name="图片 4" descr="post_object_image_32743909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746" y="832043"/>
            <a:ext cx="6137325" cy="5193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ost_object_image_27311366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247" y="375398"/>
            <a:ext cx="9149578" cy="61071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ost_object_image_3346277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5154"/>
            <a:ext cx="12051244" cy="5487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 rot="420000">
            <a:off x="2066307" y="1396365"/>
            <a:ext cx="292083" cy="36830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677887" y="399831"/>
            <a:ext cx="8686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搜索栏</a:t>
            </a:r>
            <a:endParaRPr lang="zh-CN" altLang="en-US"/>
          </a:p>
        </p:txBody>
      </p:sp>
      <p:pic>
        <p:nvPicPr>
          <p:cNvPr id="4" name="图片 3" descr="post_object_image_36361958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12" y="769368"/>
            <a:ext cx="4022793" cy="4464733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6978650" y="2392680"/>
            <a:ext cx="15544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搜索</a:t>
            </a:r>
            <a:r>
              <a:rPr lang="zh-CN" altLang="en-US">
                <a:cs typeface="Arial" panose="020B0604020202020204" pitchFamily="34" charset="0"/>
              </a:rPr>
              <a:t>结果展示</a:t>
            </a:r>
            <a:endParaRPr lang="zh-CN" altLang="en-US"/>
          </a:p>
        </p:txBody>
      </p:sp>
      <p:pic>
        <p:nvPicPr>
          <p:cNvPr id="7" name="图片 6" descr="post_object_image_25125754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38" y="2979944"/>
            <a:ext cx="11036904" cy="3375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/>
          <p:nvPr userDrawn="1"/>
        </p:nvCxnSpPr>
        <p:spPr>
          <a:xfrm flipH="1">
            <a:off x="8032115" y="330200"/>
            <a:ext cx="1087755" cy="18478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6625590" y="453390"/>
            <a:ext cx="1633855" cy="391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进入搜索页面</a:t>
            </a:r>
            <a:endParaRPr lang="zh-CN" altLang="en-US"/>
          </a:p>
        </p:txBody>
      </p:sp>
      <p:cxnSp>
        <p:nvCxnSpPr>
          <p:cNvPr id="8" name="直接箭头连接符 7"/>
          <p:cNvCxnSpPr/>
          <p:nvPr userDrawn="1"/>
        </p:nvCxnSpPr>
        <p:spPr>
          <a:xfrm>
            <a:off x="9479280" y="843915"/>
            <a:ext cx="0" cy="44132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9058275" y="1377315"/>
            <a:ext cx="1663077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改变</a:t>
            </a:r>
            <a:r>
              <a:rPr lang="zh-CN" altLang="en-US">
                <a:cs typeface="Arial" panose="020B0604020202020204" pitchFamily="34" charset="0"/>
              </a:rPr>
              <a:t>排序方式</a:t>
            </a:r>
            <a:endParaRPr lang="zh-CN" altLang="en-US"/>
          </a:p>
        </p:txBody>
      </p:sp>
      <p:cxnSp>
        <p:nvCxnSpPr>
          <p:cNvPr id="10" name="直接箭头连接符 9"/>
          <p:cNvCxnSpPr/>
          <p:nvPr userDrawn="1"/>
        </p:nvCxnSpPr>
        <p:spPr>
          <a:xfrm>
            <a:off x="4890135" y="1213485"/>
            <a:ext cx="83185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5721981" y="1028682"/>
            <a:ext cx="1426845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切换</a:t>
            </a:r>
            <a:r>
              <a:rPr lang="zh-CN" altLang="en-US">
                <a:cs typeface="Arial" panose="020B0604020202020204" pitchFamily="34" charset="0"/>
              </a:rPr>
              <a:t>标签</a:t>
            </a:r>
            <a:endParaRPr lang="zh-CN" altLang="en-US"/>
          </a:p>
        </p:txBody>
      </p:sp>
      <p:pic>
        <p:nvPicPr>
          <p:cNvPr id="12" name="图片 11" descr="post_object_image_11751255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8519" y="0"/>
            <a:ext cx="12617669" cy="6858041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 userDrawn="1"/>
        </p:nvCxnSpPr>
        <p:spPr>
          <a:xfrm flipH="1">
            <a:off x="8360410" y="309880"/>
            <a:ext cx="79057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6851532" y="99978"/>
            <a:ext cx="1662661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进入搜索页面</a:t>
            </a:r>
            <a:endParaRPr lang="zh-CN" altLang="en-US"/>
          </a:p>
        </p:txBody>
      </p:sp>
      <p:cxnSp>
        <p:nvCxnSpPr>
          <p:cNvPr id="15" name="直接箭头连接符 14"/>
          <p:cNvCxnSpPr/>
          <p:nvPr userDrawn="1"/>
        </p:nvCxnSpPr>
        <p:spPr>
          <a:xfrm>
            <a:off x="10187940" y="3009900"/>
            <a:ext cx="93408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 userDrawn="1"/>
        </p:nvSpPr>
        <p:spPr>
          <a:xfrm>
            <a:off x="11122013" y="2548841"/>
            <a:ext cx="882650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轮播聊天室预告等</a:t>
            </a:r>
            <a:endParaRPr lang="zh-CN" altLang="en-US"/>
          </a:p>
        </p:txBody>
      </p:sp>
      <p:cxnSp>
        <p:nvCxnSpPr>
          <p:cNvPr id="17" name="直接箭头连接符 16"/>
          <p:cNvCxnSpPr/>
          <p:nvPr userDrawn="1"/>
        </p:nvCxnSpPr>
        <p:spPr>
          <a:xfrm>
            <a:off x="12066270" y="320040"/>
            <a:ext cx="0" cy="46228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 userDrawn="1"/>
        </p:nvCxnSpPr>
        <p:spPr>
          <a:xfrm>
            <a:off x="5906770" y="967105"/>
            <a:ext cx="68770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 userDrawn="1"/>
        </p:nvSpPr>
        <p:spPr>
          <a:xfrm>
            <a:off x="6625590" y="802640"/>
            <a:ext cx="148844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标签</a:t>
            </a:r>
            <a:r>
              <a:rPr lang="zh-CN" altLang="en-US">
                <a:cs typeface="Arial" panose="020B0604020202020204" pitchFamily="34" charset="0"/>
              </a:rPr>
              <a:t>切换</a:t>
            </a:r>
            <a:endParaRPr lang="zh-CN" altLang="en-US"/>
          </a:p>
        </p:txBody>
      </p:sp>
      <p:cxnSp>
        <p:nvCxnSpPr>
          <p:cNvPr id="21" name="直接箭头连接符 20"/>
          <p:cNvCxnSpPr/>
          <p:nvPr userDrawn="1"/>
        </p:nvCxnSpPr>
        <p:spPr>
          <a:xfrm>
            <a:off x="2693670" y="4704080"/>
            <a:ext cx="0" cy="75946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 userDrawn="1"/>
        </p:nvSpPr>
        <p:spPr>
          <a:xfrm>
            <a:off x="2046605" y="5607050"/>
            <a:ext cx="1252220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点击</a:t>
            </a:r>
            <a:r>
              <a:rPr lang="zh-CN" altLang="en-US">
                <a:cs typeface="Arial" panose="020B0604020202020204" pitchFamily="34" charset="0"/>
              </a:rPr>
              <a:t>进入</a:t>
            </a:r>
            <a:r>
              <a:rPr lang="zh-CN" altLang="en-US"/>
              <a:t>话题</a:t>
            </a:r>
            <a:r>
              <a:rPr lang="zh-CN" altLang="en-US">
                <a:cs typeface="Arial" panose="020B0604020202020204" pitchFamily="34" charset="0"/>
              </a:rPr>
              <a:t>信息详情页</a:t>
            </a:r>
            <a:endParaRPr lang="zh-CN" altLang="en-US"/>
          </a:p>
        </p:txBody>
      </p:sp>
      <p:cxnSp>
        <p:nvCxnSpPr>
          <p:cNvPr id="24" name="直接箭头连接符 23"/>
          <p:cNvCxnSpPr/>
          <p:nvPr userDrawn="1"/>
        </p:nvCxnSpPr>
        <p:spPr>
          <a:xfrm>
            <a:off x="10557510" y="1418590"/>
            <a:ext cx="60579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 userDrawn="1"/>
        </p:nvSpPr>
        <p:spPr>
          <a:xfrm>
            <a:off x="11088277" y="1213467"/>
            <a:ext cx="120090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切换</a:t>
            </a:r>
            <a:r>
              <a:rPr lang="zh-CN" altLang="en-US">
                <a:cs typeface="Arial" panose="020B0604020202020204" pitchFamily="34" charset="0"/>
              </a:rPr>
              <a:t>排序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37666"/>
            <a:ext cx="12191959" cy="5320375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434975" y="422910"/>
            <a:ext cx="322326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话题</a:t>
            </a:r>
            <a:r>
              <a:rPr lang="zh-CN" altLang="en-US">
                <a:cs typeface="Arial" panose="020B0604020202020204" pitchFamily="34" charset="0"/>
              </a:rPr>
              <a:t>信息详情页</a:t>
            </a:r>
            <a:endParaRPr lang="zh-CN" altLang="en-US"/>
          </a:p>
        </p:txBody>
      </p:sp>
      <p:cxnSp>
        <p:nvCxnSpPr>
          <p:cNvPr id="4" name="直接箭头连接符 3"/>
          <p:cNvCxnSpPr/>
          <p:nvPr userDrawn="1"/>
        </p:nvCxnSpPr>
        <p:spPr>
          <a:xfrm flipH="1">
            <a:off x="989330" y="4077335"/>
            <a:ext cx="79057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54922" y="3339145"/>
            <a:ext cx="1016640" cy="147637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输入</a:t>
            </a:r>
            <a:r>
              <a:rPr lang="zh-CN" altLang="en-US">
                <a:cs typeface="Arial" panose="020B0604020202020204" pitchFamily="34" charset="0"/>
              </a:rPr>
              <a:t>数据经过审核后加入数据库</a:t>
            </a:r>
            <a:endParaRPr lang="zh-CN" altLang="en-US"/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10454640" y="5463540"/>
            <a:ext cx="47244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 userDrawn="1"/>
        </p:nvSpPr>
        <p:spPr>
          <a:xfrm>
            <a:off x="10927058" y="5073530"/>
            <a:ext cx="1129150" cy="119888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可以</a:t>
            </a:r>
            <a:r>
              <a:rPr lang="zh-CN" altLang="en-US">
                <a:cs typeface="Arial" panose="020B0604020202020204" pitchFamily="34" charset="0"/>
              </a:rPr>
              <a:t>改为轮播图</a:t>
            </a:r>
            <a:endParaRPr lang="zh-CN" altLang="en-US"/>
          </a:p>
        </p:txBody>
      </p:sp>
      <p:cxnSp>
        <p:nvCxnSpPr>
          <p:cNvPr id="8" name="直接箭头连接符 7"/>
          <p:cNvCxnSpPr/>
          <p:nvPr userDrawn="1"/>
        </p:nvCxnSpPr>
        <p:spPr>
          <a:xfrm flipH="1">
            <a:off x="6245225" y="5381625"/>
            <a:ext cx="34925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5115583" y="5197506"/>
            <a:ext cx="1129667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切换</a:t>
            </a:r>
            <a:r>
              <a:rPr lang="zh-CN" altLang="en-US">
                <a:cs typeface="Arial" panose="020B0604020202020204" pitchFamily="34" charset="0"/>
              </a:rPr>
              <a:t>排序</a:t>
            </a:r>
            <a:endParaRPr lang="zh-CN" altLang="en-US"/>
          </a:p>
        </p:txBody>
      </p:sp>
      <p:cxnSp>
        <p:nvCxnSpPr>
          <p:cNvPr id="10" name="直接箭头连接符 9"/>
          <p:cNvCxnSpPr/>
          <p:nvPr userDrawn="1"/>
        </p:nvCxnSpPr>
        <p:spPr>
          <a:xfrm>
            <a:off x="3432810" y="6397625"/>
            <a:ext cx="34861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3596" y="6272456"/>
            <a:ext cx="109855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互动</a:t>
            </a:r>
            <a:r>
              <a:rPr lang="zh-CN" altLang="en-US">
                <a:cs typeface="Arial" panose="020B0604020202020204" pitchFamily="34" charset="0"/>
              </a:rPr>
              <a:t>选项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19650059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38" y="198073"/>
            <a:ext cx="11955487" cy="6524814"/>
          </a:xfrm>
          <a:prstGeom prst="rect">
            <a:avLst/>
          </a:prstGeom>
        </p:spPr>
      </p:pic>
      <p:cxnSp>
        <p:nvCxnSpPr>
          <p:cNvPr id="3" name="直接箭头连接符 2"/>
          <p:cNvCxnSpPr/>
          <p:nvPr userDrawn="1"/>
        </p:nvCxnSpPr>
        <p:spPr>
          <a:xfrm>
            <a:off x="824865" y="525145"/>
            <a:ext cx="0" cy="38036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175963" y="977263"/>
            <a:ext cx="1439592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返回上一页</a:t>
            </a:r>
            <a:endParaRPr lang="zh-CN" altLang="en-US"/>
          </a:p>
        </p:txBody>
      </p:sp>
      <p:cxnSp>
        <p:nvCxnSpPr>
          <p:cNvPr id="5" name="直接箭头连接符 4"/>
          <p:cNvCxnSpPr/>
          <p:nvPr userDrawn="1"/>
        </p:nvCxnSpPr>
        <p:spPr>
          <a:xfrm flipH="1">
            <a:off x="1461770" y="5986780"/>
            <a:ext cx="57467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 userDrawn="1"/>
        </p:nvSpPr>
        <p:spPr>
          <a:xfrm>
            <a:off x="403860" y="5904865"/>
            <a:ext cx="1006055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文本输入框</a:t>
            </a:r>
            <a:endParaRPr lang="zh-CN" altLang="en-US"/>
          </a:p>
        </p:txBody>
      </p:sp>
      <p:cxnSp>
        <p:nvCxnSpPr>
          <p:cNvPr id="11" name="直接箭头连接符 10"/>
          <p:cNvCxnSpPr/>
          <p:nvPr userDrawn="1"/>
        </p:nvCxnSpPr>
        <p:spPr>
          <a:xfrm>
            <a:off x="8883650" y="3225165"/>
            <a:ext cx="0" cy="53403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7898116" y="3913505"/>
            <a:ext cx="2453654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设置</a:t>
            </a:r>
            <a:r>
              <a:rPr lang="en-US" altLang="zh-CN"/>
              <a:t>admin</a:t>
            </a:r>
            <a:r>
              <a:rPr lang="zh-CN" altLang="en-US"/>
              <a:t>账户可见</a:t>
            </a:r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8740140" y="1623695"/>
            <a:ext cx="83185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9664379" y="1299894"/>
            <a:ext cx="110871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聊天室的</a:t>
            </a:r>
            <a:r>
              <a:rPr lang="zh-CN" altLang="en-US">
                <a:cs typeface="Arial" panose="020B0604020202020204" pitchFamily="34" charset="0"/>
              </a:rPr>
              <a:t>基础信息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413747" cy="6858041"/>
          </a:xfrm>
          <a:prstGeom prst="rect">
            <a:avLst/>
          </a:prstGeom>
        </p:spPr>
      </p:pic>
      <p:cxnSp>
        <p:nvCxnSpPr>
          <p:cNvPr id="3" name="直接箭头连接符 2"/>
          <p:cNvCxnSpPr/>
          <p:nvPr userDrawn="1"/>
        </p:nvCxnSpPr>
        <p:spPr>
          <a:xfrm>
            <a:off x="8575675" y="915670"/>
            <a:ext cx="0" cy="32829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7980680" y="1398270"/>
            <a:ext cx="122174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小组</a:t>
            </a:r>
            <a:r>
              <a:rPr lang="zh-CN" altLang="en-US">
                <a:cs typeface="Arial" panose="020B0604020202020204" pitchFamily="34" charset="0"/>
              </a:rPr>
              <a:t>搜索</a:t>
            </a:r>
            <a:endParaRPr lang="zh-CN" altLang="en-US"/>
          </a:p>
        </p:txBody>
      </p:sp>
      <p:cxnSp>
        <p:nvCxnSpPr>
          <p:cNvPr id="5" name="直接箭头连接符 4"/>
          <p:cNvCxnSpPr/>
          <p:nvPr userDrawn="1"/>
        </p:nvCxnSpPr>
        <p:spPr>
          <a:xfrm>
            <a:off x="10547350" y="987425"/>
            <a:ext cx="0" cy="33909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 userDrawn="1"/>
        </p:nvSpPr>
        <p:spPr>
          <a:xfrm>
            <a:off x="10095230" y="1480185"/>
            <a:ext cx="119126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创建新的小组</a:t>
            </a:r>
            <a:endParaRPr lang="zh-CN" altLang="en-US"/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5034280" y="1213485"/>
            <a:ext cx="61595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5711929" y="1028682"/>
            <a:ext cx="1570355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小组</a:t>
            </a:r>
            <a:r>
              <a:rPr lang="zh-CN" altLang="en-US">
                <a:cs typeface="Arial" panose="020B0604020202020204" pitchFamily="34" charset="0"/>
              </a:rPr>
              <a:t>标签</a:t>
            </a:r>
            <a:endParaRPr lang="zh-CN" altLang="en-US"/>
          </a:p>
        </p:txBody>
      </p:sp>
      <p:cxnSp>
        <p:nvCxnSpPr>
          <p:cNvPr id="9" name="直接箭头连接符 8"/>
          <p:cNvCxnSpPr/>
          <p:nvPr userDrawn="1"/>
        </p:nvCxnSpPr>
        <p:spPr>
          <a:xfrm>
            <a:off x="2734310" y="2465705"/>
            <a:ext cx="0" cy="82105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 userDrawn="1"/>
        </p:nvSpPr>
        <p:spPr>
          <a:xfrm>
            <a:off x="1943730" y="3338507"/>
            <a:ext cx="1581150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推荐小组</a:t>
            </a:r>
            <a:r>
              <a:rPr lang="zh-CN" altLang="en-US">
                <a:cs typeface="Arial" panose="020B0604020202020204" pitchFamily="34" charset="0"/>
              </a:rPr>
              <a:t>信息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>
                <a:cs typeface="Arial" panose="020B0604020202020204" pitchFamily="34" charset="0"/>
              </a:rPr>
              <a:t>点击进入小组详情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25872"/>
            <a:ext cx="12208925" cy="5532169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280670" y="351155"/>
            <a:ext cx="307975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小组</a:t>
            </a:r>
            <a:r>
              <a:rPr lang="zh-CN" altLang="en-US">
                <a:cs typeface="Arial" panose="020B0604020202020204" pitchFamily="34" charset="0"/>
              </a:rPr>
              <a:t>详情页</a:t>
            </a:r>
            <a:endParaRPr lang="zh-CN" altLang="en-US"/>
          </a:p>
        </p:txBody>
      </p:sp>
      <p:cxnSp>
        <p:nvCxnSpPr>
          <p:cNvPr id="4" name="直接箭头连接符 3"/>
          <p:cNvCxnSpPr/>
          <p:nvPr userDrawn="1"/>
        </p:nvCxnSpPr>
        <p:spPr>
          <a:xfrm>
            <a:off x="11080750" y="2691765"/>
            <a:ext cx="41084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11491597" y="2260374"/>
            <a:ext cx="700362" cy="86007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跳转</a:t>
            </a:r>
            <a:r>
              <a:rPr lang="zh-CN" altLang="en-US">
                <a:cs typeface="Arial" panose="020B0604020202020204" pitchFamily="34" charset="0"/>
              </a:rPr>
              <a:t>创作中心，参考快捷发布模版</a:t>
            </a:r>
            <a:endParaRPr lang="zh-CN" altLang="en-US"/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2898775" y="2475865"/>
            <a:ext cx="88265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3873805" y="2260417"/>
            <a:ext cx="1232117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小组</a:t>
            </a:r>
            <a:r>
              <a:rPr lang="zh-CN" altLang="en-US">
                <a:cs typeface="Arial" panose="020B0604020202020204" pitchFamily="34" charset="0"/>
              </a:rPr>
              <a:t>信息</a:t>
            </a:r>
            <a:endParaRPr lang="zh-CN" altLang="en-US"/>
          </a:p>
        </p:txBody>
      </p:sp>
      <p:cxnSp>
        <p:nvCxnSpPr>
          <p:cNvPr id="9" name="直接箭头连接符 8"/>
          <p:cNvCxnSpPr/>
          <p:nvPr userDrawn="1"/>
        </p:nvCxnSpPr>
        <p:spPr>
          <a:xfrm flipV="1">
            <a:off x="7539355" y="2794000"/>
            <a:ext cx="3921125" cy="74993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 userDrawn="1"/>
        </p:nvCxnSpPr>
        <p:spPr>
          <a:xfrm flipV="1">
            <a:off x="4038600" y="3564255"/>
            <a:ext cx="0" cy="51308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4151406" y="3221340"/>
            <a:ext cx="1909355" cy="119888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点击</a:t>
            </a:r>
            <a:r>
              <a:rPr lang="zh-CN" altLang="en-US">
                <a:cs typeface="Arial" panose="020B0604020202020204" pitchFamily="34" charset="0"/>
              </a:rPr>
              <a:t>进入动态详情页，与话题详情页类似</a:t>
            </a:r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 flipV="1">
            <a:off x="10967720" y="2917190"/>
            <a:ext cx="441960" cy="78041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 userDrawn="1"/>
        </p:nvCxnSpPr>
        <p:spPr>
          <a:xfrm flipV="1">
            <a:off x="10978515" y="2978785"/>
            <a:ext cx="492760" cy="2218055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 userDrawn="1"/>
        </p:nvCxnSpPr>
        <p:spPr>
          <a:xfrm>
            <a:off x="9592310" y="6305550"/>
            <a:ext cx="78041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 userDrawn="1"/>
        </p:nvSpPr>
        <p:spPr>
          <a:xfrm>
            <a:off x="10500825" y="6079271"/>
            <a:ext cx="1570690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统计</a:t>
            </a:r>
            <a:r>
              <a:rPr lang="zh-CN" altLang="en-US">
                <a:cs typeface="Arial" panose="020B0604020202020204" pitchFamily="34" charset="0"/>
              </a:rPr>
              <a:t>成员数据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59" cy="674912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 userDrawn="1"/>
        </p:nvCxnSpPr>
        <p:spPr>
          <a:xfrm>
            <a:off x="10557510" y="1767840"/>
            <a:ext cx="42100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10978492" y="1168403"/>
            <a:ext cx="677545" cy="119888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跳转</a:t>
            </a:r>
            <a:r>
              <a:rPr lang="zh-CN" altLang="en-US">
                <a:cs typeface="Arial" panose="020B0604020202020204" pitchFamily="34" charset="0"/>
              </a:rPr>
              <a:t>专家创作中心</a:t>
            </a:r>
            <a:endParaRPr lang="zh-CN" altLang="en-US"/>
          </a:p>
        </p:txBody>
      </p:sp>
      <p:cxnSp>
        <p:nvCxnSpPr>
          <p:cNvPr id="5" name="直接箭头连接符 4"/>
          <p:cNvCxnSpPr/>
          <p:nvPr userDrawn="1"/>
        </p:nvCxnSpPr>
        <p:spPr>
          <a:xfrm>
            <a:off x="10485755" y="4909185"/>
            <a:ext cx="38989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 userDrawn="1"/>
        </p:nvSpPr>
        <p:spPr>
          <a:xfrm>
            <a:off x="10855327" y="4309764"/>
            <a:ext cx="800735" cy="119888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跳转</a:t>
            </a:r>
            <a:r>
              <a:rPr lang="zh-CN" altLang="en-US">
                <a:cs typeface="Arial" panose="020B0604020202020204" pitchFamily="34" charset="0"/>
              </a:rPr>
              <a:t>专家入驻中心</a:t>
            </a:r>
            <a:endParaRPr lang="zh-CN" altLang="en-US"/>
          </a:p>
        </p:txBody>
      </p:sp>
      <p:cxnSp>
        <p:nvCxnSpPr>
          <p:cNvPr id="7" name="直接箭头连接符 6"/>
          <p:cNvCxnSpPr/>
          <p:nvPr userDrawn="1"/>
        </p:nvCxnSpPr>
        <p:spPr>
          <a:xfrm flipH="1">
            <a:off x="8390890" y="792480"/>
            <a:ext cx="42100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7158991" y="608300"/>
            <a:ext cx="1231900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专家及专业资源搜索</a:t>
            </a:r>
            <a:endParaRPr lang="zh-CN" altLang="en-US"/>
          </a:p>
        </p:txBody>
      </p:sp>
      <p:cxnSp>
        <p:nvCxnSpPr>
          <p:cNvPr id="9" name="直接箭头连接符 8"/>
          <p:cNvCxnSpPr/>
          <p:nvPr userDrawn="1"/>
        </p:nvCxnSpPr>
        <p:spPr>
          <a:xfrm>
            <a:off x="4654550" y="1223645"/>
            <a:ext cx="43116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 userDrawn="1"/>
        </p:nvSpPr>
        <p:spPr>
          <a:xfrm>
            <a:off x="5085681" y="1039481"/>
            <a:ext cx="111887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资源</a:t>
            </a:r>
            <a:r>
              <a:rPr lang="zh-CN" altLang="en-US">
                <a:cs typeface="Arial" panose="020B0604020202020204" pitchFamily="34" charset="0"/>
              </a:rPr>
              <a:t>标签</a:t>
            </a:r>
            <a:endParaRPr lang="zh-CN" altLang="en-US"/>
          </a:p>
        </p:txBody>
      </p:sp>
      <p:cxnSp>
        <p:nvCxnSpPr>
          <p:cNvPr id="11" name="直接箭头连接符 10"/>
          <p:cNvCxnSpPr/>
          <p:nvPr userDrawn="1"/>
        </p:nvCxnSpPr>
        <p:spPr>
          <a:xfrm flipH="1">
            <a:off x="1358900" y="2312035"/>
            <a:ext cx="36957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85826" y="2127906"/>
            <a:ext cx="1273114" cy="119888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显示</a:t>
            </a:r>
            <a:r>
              <a:rPr lang="zh-CN" altLang="en-US">
                <a:cs typeface="Arial" panose="020B0604020202020204" pitchFamily="34" charset="0"/>
              </a:rPr>
              <a:t>专业资源的基础信息，点击进入资源主页</a:t>
            </a:r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 flipH="1">
            <a:off x="1174115" y="5155565"/>
            <a:ext cx="55435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85820" y="5073650"/>
            <a:ext cx="1273120" cy="230695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显示专家的信息，点击进入专家主页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4381"/>
            <a:ext cx="12191959" cy="548366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434975" y="412750"/>
            <a:ext cx="357251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专家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发布入口</a:t>
            </a:r>
            <a:endParaRPr lang="zh-CN" altLang="en-US"/>
          </a:p>
        </p:txBody>
      </p:sp>
      <p:cxnSp>
        <p:nvCxnSpPr>
          <p:cNvPr id="4" name="直接箭头连接符 3"/>
          <p:cNvCxnSpPr/>
          <p:nvPr userDrawn="1"/>
        </p:nvCxnSpPr>
        <p:spPr>
          <a:xfrm flipH="1">
            <a:off x="866140" y="2691765"/>
            <a:ext cx="36957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106468" y="2369223"/>
            <a:ext cx="86233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后台数据</a:t>
            </a:r>
            <a:endParaRPr lang="zh-CN" altLang="en-US"/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10844530" y="3943985"/>
            <a:ext cx="47244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 userDrawn="1"/>
        </p:nvSpPr>
        <p:spPr>
          <a:xfrm>
            <a:off x="11316969" y="3475747"/>
            <a:ext cx="811863" cy="175323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进入</a:t>
            </a:r>
            <a:r>
              <a:rPr lang="zh-CN" altLang="en-US">
                <a:cs typeface="Arial" panose="020B0604020202020204" pitchFamily="34" charset="0"/>
              </a:rPr>
              <a:t>创作中心，参考快捷发布</a:t>
            </a:r>
            <a:endParaRPr lang="zh-CN" altLang="en-US"/>
          </a:p>
        </p:txBody>
      </p:sp>
      <p:cxnSp>
        <p:nvCxnSpPr>
          <p:cNvPr id="8" name="直接箭头连接符 7"/>
          <p:cNvCxnSpPr/>
          <p:nvPr userDrawn="1"/>
        </p:nvCxnSpPr>
        <p:spPr>
          <a:xfrm flipH="1">
            <a:off x="876300" y="4170045"/>
            <a:ext cx="626110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229683" y="3891354"/>
            <a:ext cx="739140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内容管理页</a:t>
            </a:r>
            <a:endParaRPr lang="zh-CN" altLang="en-US"/>
          </a:p>
        </p:txBody>
      </p:sp>
      <p:cxnSp>
        <p:nvCxnSpPr>
          <p:cNvPr id="10" name="直接箭头连接符 9"/>
          <p:cNvCxnSpPr/>
          <p:nvPr userDrawn="1"/>
        </p:nvCxnSpPr>
        <p:spPr>
          <a:xfrm flipV="1">
            <a:off x="9551035" y="4108638"/>
            <a:ext cx="1786812" cy="657037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7628"/>
            <a:ext cx="12191959" cy="5860413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219075" y="474345"/>
            <a:ext cx="2618105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专家</a:t>
            </a:r>
            <a:r>
              <a:rPr lang="zh-CN" altLang="en-US">
                <a:cs typeface="Arial" panose="020B0604020202020204" pitchFamily="34" charset="0"/>
              </a:rPr>
              <a:t>入驻页面</a:t>
            </a:r>
            <a:endParaRPr lang="zh-CN" altLang="en-US"/>
          </a:p>
        </p:txBody>
      </p:sp>
      <p:cxnSp>
        <p:nvCxnSpPr>
          <p:cNvPr id="5" name="直接箭头连接符 4"/>
          <p:cNvCxnSpPr/>
          <p:nvPr userDrawn="1"/>
        </p:nvCxnSpPr>
        <p:spPr>
          <a:xfrm flipH="1">
            <a:off x="886460" y="3707765"/>
            <a:ext cx="53403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 userDrawn="1"/>
        </p:nvSpPr>
        <p:spPr>
          <a:xfrm>
            <a:off x="85616" y="2774379"/>
            <a:ext cx="965419" cy="230695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输入</a:t>
            </a:r>
            <a:r>
              <a:rPr lang="zh-CN" altLang="en-US">
                <a:cs typeface="Arial" panose="020B0604020202020204" pitchFamily="34" charset="0"/>
              </a:rPr>
              <a:t>数据暂不入库，审核后进入数据库</a:t>
            </a:r>
            <a:endParaRPr lang="zh-CN" altLang="en-US"/>
          </a:p>
        </p:txBody>
      </p:sp>
      <p:cxnSp>
        <p:nvCxnSpPr>
          <p:cNvPr id="7" name="直接箭头连接符 6"/>
          <p:cNvCxnSpPr/>
          <p:nvPr userDrawn="1"/>
        </p:nvCxnSpPr>
        <p:spPr>
          <a:xfrm flipH="1">
            <a:off x="9325610" y="5340350"/>
            <a:ext cx="42100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7816086" y="5166502"/>
            <a:ext cx="1570909" cy="57362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返回</a:t>
            </a:r>
            <a:r>
              <a:rPr lang="zh-CN" altLang="en-US">
                <a:cs typeface="Arial" panose="020B0604020202020204" pitchFamily="34" charset="0"/>
              </a:rPr>
              <a:t>专业中心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2244"/>
            <a:ext cx="12191959" cy="5645797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321945" y="371475"/>
            <a:ext cx="2371725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专家</a:t>
            </a:r>
            <a:r>
              <a:rPr lang="zh-CN" altLang="en-US">
                <a:cs typeface="Arial" panose="020B0604020202020204" pitchFamily="34" charset="0"/>
              </a:rPr>
              <a:t>主页</a:t>
            </a:r>
            <a:endParaRPr lang="zh-CN" altLang="en-US"/>
          </a:p>
        </p:txBody>
      </p:sp>
      <p:cxnSp>
        <p:nvCxnSpPr>
          <p:cNvPr id="4" name="直接箭头连接符 3"/>
          <p:cNvCxnSpPr/>
          <p:nvPr userDrawn="1"/>
        </p:nvCxnSpPr>
        <p:spPr>
          <a:xfrm flipH="1">
            <a:off x="9345930" y="2496820"/>
            <a:ext cx="53403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7764590" y="2312698"/>
            <a:ext cx="1581367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跳转</a:t>
            </a:r>
            <a:r>
              <a:rPr lang="zh-CN" altLang="en-US">
                <a:cs typeface="Arial" panose="020B0604020202020204" pitchFamily="34" charset="0"/>
              </a:rPr>
              <a:t>私信页面</a:t>
            </a:r>
            <a:endParaRPr lang="zh-CN" altLang="en-US"/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11008995" y="2527300"/>
            <a:ext cx="287655" cy="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 userDrawn="1"/>
        </p:nvSpPr>
        <p:spPr>
          <a:xfrm>
            <a:off x="11185895" y="1778649"/>
            <a:ext cx="1006064" cy="203142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切换为“已关注”，同时个人主页更新关注列表</a:t>
            </a:r>
            <a:endParaRPr lang="zh-CN" altLang="en-US"/>
          </a:p>
        </p:txBody>
      </p:sp>
      <p:cxnSp>
        <p:nvCxnSpPr>
          <p:cNvPr id="8" name="直接箭头连接符 7"/>
          <p:cNvCxnSpPr/>
          <p:nvPr userDrawn="1"/>
        </p:nvCxnSpPr>
        <p:spPr>
          <a:xfrm flipV="1">
            <a:off x="2744470" y="3800475"/>
            <a:ext cx="0" cy="636270"/>
          </a:xfrm>
          <a:prstGeom prst="straightConnector1">
            <a:avLst/>
          </a:prstGeom>
          <a:ln w="381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 userDrawn="1"/>
        </p:nvSpPr>
        <p:spPr>
          <a:xfrm>
            <a:off x="2827136" y="3358942"/>
            <a:ext cx="2248145" cy="119888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点击</a:t>
            </a:r>
            <a:r>
              <a:rPr lang="zh-CN" altLang="en-US">
                <a:cs typeface="Arial" panose="020B0604020202020204" pitchFamily="34" charset="0"/>
              </a:rPr>
              <a:t>进入详情页，与话题详情页类似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12203506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12" y="267640"/>
            <a:ext cx="11635048" cy="46748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4130590" y="735198"/>
            <a:ext cx="2240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点击</a:t>
            </a:r>
            <a:r>
              <a:rPr lang="zh-CN" altLang="en-US">
                <a:cs typeface="Arial" panose="020B0604020202020204" pitchFamily="34" charset="0"/>
              </a:rPr>
              <a:t>快捷发布后进入</a:t>
            </a:r>
            <a:endParaRPr lang="zh-CN" altLang="en-US"/>
          </a:p>
        </p:txBody>
      </p:sp>
      <p:pic>
        <p:nvPicPr>
          <p:cNvPr id="4" name="图片 3" descr="post_object_image_26373945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151" y="1104843"/>
            <a:ext cx="7280901" cy="52921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ost_object_image_37283363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3946"/>
            <a:ext cx="12158534" cy="59707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9265991" y="951540"/>
            <a:ext cx="29260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点击最右图标进入消息中心</a:t>
            </a:r>
            <a:endParaRPr lang="zh-CN" altLang="en-US"/>
          </a:p>
        </p:txBody>
      </p:sp>
      <p:pic>
        <p:nvPicPr>
          <p:cNvPr id="8" name="图片 7" descr="post_object_image_39553360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14" y="1321078"/>
            <a:ext cx="11514243" cy="50888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WPS 演示</Application>
  <PresentationFormat>宽屏</PresentationFormat>
  <Paragraphs>107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 s</dc:creator>
  <cp:lastModifiedBy>WPS_1659531305</cp:lastModifiedBy>
  <cp:revision>2</cp:revision>
  <dcterms:created xsi:type="dcterms:W3CDTF">2025-11-25T13:17:00Z</dcterms:created>
  <dcterms:modified xsi:type="dcterms:W3CDTF">2025-11-25T14:15:53Z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5DCD8E39954BCE6633572569E4402960_42</vt:lpwstr>
  </property>
  <property fmtid="{D5CDD505-2E9C-101B-9397-08002B2CF9AE}" pid="3" name="KSOProductBuildVer">
    <vt:lpwstr>2052-12.1.0.23542</vt:lpwstr>
  </property>
</Properties>
</file>